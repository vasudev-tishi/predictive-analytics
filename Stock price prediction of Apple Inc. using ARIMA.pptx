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Klein Bold" charset="1" panose="02000503060000020004"/>
      <p:regular r:id="rId16"/>
    </p:embeddedFont>
    <p:embeddedFont>
      <p:font typeface="Helios" charset="1" panose="020B0504020202020204"/>
      <p:regular r:id="rId17"/>
    </p:embeddedFont>
    <p:embeddedFont>
      <p:font typeface="Helios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2405668"/>
            <a:ext cx="8115300" cy="5475664"/>
            <a:chOff x="0" y="0"/>
            <a:chExt cx="10820400" cy="730088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0820400" cy="559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Stock price prediction of Apple Inc. using ARIMA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843983"/>
              <a:ext cx="10498974" cy="145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Tishika vasudev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Bsc. Data Science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8272" y="215303"/>
            <a:ext cx="9856393" cy="9856393"/>
            <a:chOff x="0" y="0"/>
            <a:chExt cx="13141858" cy="13141858"/>
          </a:xfrm>
        </p:grpSpPr>
        <p:sp>
          <p:nvSpPr>
            <p:cNvPr name="Freeform 3" id="3"/>
            <p:cNvSpPr/>
            <p:nvPr/>
          </p:nvSpPr>
          <p:spPr>
            <a:xfrm flipH="false" flipV="false"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1122" y="1311122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50488" y="2646724"/>
            <a:ext cx="4164188" cy="4303568"/>
            <a:chOff x="0" y="0"/>
            <a:chExt cx="6362700" cy="6575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6350013" cy="6562979"/>
            </a:xfrm>
            <a:custGeom>
              <a:avLst/>
              <a:gdLst/>
              <a:ahLst/>
              <a:cxnLst/>
              <a:rect r="r" b="b" t="t" l="l"/>
              <a:pathLst>
                <a:path h="6562979" w="6350013">
                  <a:moveTo>
                    <a:pt x="6350000" y="5480583"/>
                  </a:moveTo>
                  <a:cubicBezTo>
                    <a:pt x="6350000" y="6078372"/>
                    <a:pt x="5865419" y="6562979"/>
                    <a:pt x="5267617" y="6562979"/>
                  </a:cubicBezTo>
                  <a:lnTo>
                    <a:pt x="1082383" y="6562979"/>
                  </a:lnTo>
                  <a:cubicBezTo>
                    <a:pt x="484594" y="6562979"/>
                    <a:pt x="0" y="6078385"/>
                    <a:pt x="0" y="5480583"/>
                  </a:cubicBezTo>
                  <a:lnTo>
                    <a:pt x="0" y="1082383"/>
                  </a:lnTo>
                  <a:cubicBezTo>
                    <a:pt x="0" y="484594"/>
                    <a:pt x="484581" y="0"/>
                    <a:pt x="1082383" y="0"/>
                  </a:cubicBezTo>
                  <a:lnTo>
                    <a:pt x="5267630" y="0"/>
                  </a:lnTo>
                  <a:cubicBezTo>
                    <a:pt x="5865419" y="0"/>
                    <a:pt x="6350013" y="484594"/>
                    <a:pt x="6350013" y="1082383"/>
                  </a:cubicBezTo>
                  <a:lnTo>
                    <a:pt x="6350013" y="5480583"/>
                  </a:lnTo>
                  <a:close/>
                </a:path>
              </a:pathLst>
            </a:custGeom>
            <a:blipFill>
              <a:blip r:embed="rId4"/>
              <a:stretch>
                <a:fillRect l="0" t="-9450" r="0" b="-945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41125" y="200025"/>
            <a:ext cx="7285740" cy="6607810"/>
            <a:chOff x="0" y="0"/>
            <a:chExt cx="9714320" cy="881041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9714320" cy="1494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Apple Inc.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08411"/>
              <a:ext cx="8770288" cy="6702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Founded: 1976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Industry: Technology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Headquarters: California, USA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Products: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               - iPhone 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                -MacBook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                - iPad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                 - Apple Watch</a:t>
              </a:r>
            </a:p>
            <a:p>
              <a:pPr algn="l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0262" y="253548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08998" y="6276492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59784" y="6087110"/>
            <a:ext cx="5585113" cy="1877167"/>
            <a:chOff x="0" y="0"/>
            <a:chExt cx="7446817" cy="250289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7446817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Inventors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5068"/>
              <a:ext cx="7446817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need forecasting techniques to make better decisions.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9411059" cy="10287000"/>
            <a:chOff x="0" y="0"/>
            <a:chExt cx="247863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346105"/>
            <a:ext cx="6746873" cy="3259455"/>
            <a:chOff x="0" y="0"/>
            <a:chExt cx="8995831" cy="43459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8995831" cy="3031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Problem Statement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638338"/>
              <a:ext cx="705840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59784" y="2574705"/>
            <a:ext cx="5585113" cy="1419967"/>
            <a:chOff x="0" y="0"/>
            <a:chExt cx="7446817" cy="189329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7446817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Stock Prices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5068"/>
              <a:ext cx="7446817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change daily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535487"/>
            <a:ext cx="6044810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Objectives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42260" y="3020933"/>
            <a:ext cx="7539863" cy="497206"/>
            <a:chOff x="0" y="0"/>
            <a:chExt cx="10053151" cy="662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70697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76200"/>
              <a:ext cx="8738982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Analyze historical stock prices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2260" y="5596193"/>
            <a:ext cx="7539863" cy="497206"/>
            <a:chOff x="0" y="0"/>
            <a:chExt cx="10053151" cy="6629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54864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76200"/>
              <a:ext cx="8738982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Forecast future prices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2260" y="8171454"/>
            <a:ext cx="7819986" cy="663512"/>
            <a:chOff x="0" y="0"/>
            <a:chExt cx="10426648" cy="8846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687666" y="145542"/>
              <a:ext cx="8738982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Evaluate model performance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96844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545534"/>
            <a:ext cx="5534402" cy="2969237"/>
            <a:chOff x="0" y="0"/>
            <a:chExt cx="7379203" cy="39589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7379203" cy="3031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</a:t>
              </a:r>
              <a:r>
                <a:rPr lang="en-US" sz="6999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Description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251380"/>
              <a:ext cx="702510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35187" y="1515588"/>
            <a:ext cx="1821708" cy="1821708"/>
          </a:xfrm>
          <a:custGeom>
            <a:avLst/>
            <a:gdLst/>
            <a:ahLst/>
            <a:cxnLst/>
            <a:rect r="r" b="b" t="t" l="l"/>
            <a:pathLst>
              <a:path h="1821708" w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24358" y="1704759"/>
            <a:ext cx="1443365" cy="1443365"/>
          </a:xfrm>
          <a:custGeom>
            <a:avLst/>
            <a:gdLst/>
            <a:ahLst/>
            <a:cxnLst/>
            <a:rect r="r" b="b" t="t" l="l"/>
            <a:pathLst>
              <a:path h="1443365" w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654318" y="1554540"/>
            <a:ext cx="3887104" cy="1743803"/>
            <a:chOff x="0" y="0"/>
            <a:chExt cx="5182806" cy="232507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182806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#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06057"/>
              <a:ext cx="5182806" cy="1419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718BAB"/>
                  </a:solidFill>
                  <a:latin typeface="Helios"/>
                  <a:ea typeface="Helios"/>
                  <a:cs typeface="Helios"/>
                  <a:sym typeface="Helios"/>
                </a:rPr>
                <a:t>source: GitHub Financial Dataset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035187" y="4232646"/>
            <a:ext cx="1821708" cy="1821708"/>
          </a:xfrm>
          <a:custGeom>
            <a:avLst/>
            <a:gdLst/>
            <a:ahLst/>
            <a:cxnLst/>
            <a:rect r="r" b="b" t="t" l="l"/>
            <a:pathLst>
              <a:path h="1821708" w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24358" y="4492661"/>
            <a:ext cx="1443365" cy="1443365"/>
          </a:xfrm>
          <a:custGeom>
            <a:avLst/>
            <a:gdLst/>
            <a:ahLst/>
            <a:cxnLst/>
            <a:rect r="r" b="b" t="t" l="l"/>
            <a:pathLst>
              <a:path h="1443365" w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54318" y="4350974"/>
            <a:ext cx="3887104" cy="1585053"/>
            <a:chOff x="0" y="0"/>
            <a:chExt cx="5182806" cy="211340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182806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# 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15582"/>
              <a:ext cx="5182806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718BAB"/>
                  </a:solidFill>
                  <a:latin typeface="Helios"/>
                  <a:ea typeface="Helios"/>
                  <a:cs typeface="Helios"/>
                  <a:sym typeface="Helios"/>
                </a:rPr>
                <a:t>target variable: AAPL.Close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728970"/>
            <a:ext cx="6044810" cy="2977265"/>
            <a:chOff x="0" y="0"/>
            <a:chExt cx="8059746" cy="39696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8059746" cy="3031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ARIMA </a:t>
              </a:r>
              <a:r>
                <a:rPr lang="en-US" sz="6999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Model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62085"/>
              <a:ext cx="714358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stands for: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42260" y="3728970"/>
            <a:ext cx="7539863" cy="414910"/>
            <a:chOff x="0" y="0"/>
            <a:chExt cx="10053151" cy="553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14169" y="-66675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Auto Regressive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42260" y="4983032"/>
            <a:ext cx="7539863" cy="414910"/>
            <a:chOff x="0" y="0"/>
            <a:chExt cx="10053151" cy="5532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14169" y="-50842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Integrated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42260" y="6291326"/>
            <a:ext cx="7539863" cy="414910"/>
            <a:chOff x="0" y="0"/>
            <a:chExt cx="10053151" cy="5532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314169" y="-50842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Moving Average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42260" y="7601585"/>
            <a:ext cx="7539863" cy="414910"/>
            <a:chOff x="0" y="0"/>
            <a:chExt cx="10053151" cy="5532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314169" y="-50842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Model used: ARIMA(5,1,0)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80303">
            <a:off x="11535117" y="-2093324"/>
            <a:ext cx="7819471" cy="7848009"/>
          </a:xfrm>
          <a:custGeom>
            <a:avLst/>
            <a:gdLst/>
            <a:ahLst/>
            <a:cxnLst/>
            <a:rect r="r" b="b" t="t" l="l"/>
            <a:pathLst>
              <a:path h="7848009" w="7819471">
                <a:moveTo>
                  <a:pt x="0" y="0"/>
                </a:moveTo>
                <a:lnTo>
                  <a:pt x="7819471" y="0"/>
                </a:lnTo>
                <a:lnTo>
                  <a:pt x="7819471" y="7848009"/>
                </a:lnTo>
                <a:lnTo>
                  <a:pt x="0" y="7848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1430883" y="3909014"/>
            <a:ext cx="8252518" cy="8282636"/>
          </a:xfrm>
          <a:custGeom>
            <a:avLst/>
            <a:gdLst/>
            <a:ahLst/>
            <a:cxnLst/>
            <a:rect r="r" b="b" t="t" l="l"/>
            <a:pathLst>
              <a:path h="8282636" w="8252518">
                <a:moveTo>
                  <a:pt x="0" y="0"/>
                </a:moveTo>
                <a:lnTo>
                  <a:pt x="8252517" y="0"/>
                </a:lnTo>
                <a:lnTo>
                  <a:pt x="8252517" y="8282637"/>
                </a:lnTo>
                <a:lnTo>
                  <a:pt x="0" y="828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97330"/>
            <a:ext cx="7633722" cy="101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Methodology: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06740" y="3516600"/>
            <a:ext cx="7173849" cy="577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Load Dataset</a:t>
            </a:r>
          </a:p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Select Closing Price</a:t>
            </a:r>
          </a:p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Train-Test Split</a:t>
            </a:r>
          </a:p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Apply ARIMA</a:t>
            </a:r>
          </a:p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Forecast Future Values</a:t>
            </a:r>
          </a:p>
          <a:p>
            <a:pPr algn="l" marL="1011235" indent="-505617" lvl="1">
              <a:lnSpc>
                <a:spcPts val="6557"/>
              </a:lnSpc>
              <a:buFont typeface="Arial"/>
              <a:buChar char="•"/>
            </a:pPr>
            <a:r>
              <a:rPr lang="en-US" sz="4683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Evaluate using RMSE</a:t>
            </a:r>
          </a:p>
          <a:p>
            <a:pPr algn="ctr">
              <a:lnSpc>
                <a:spcPts val="65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48472" y="5735482"/>
            <a:ext cx="6287254" cy="1408893"/>
            <a:chOff x="0" y="0"/>
            <a:chExt cx="8383006" cy="187852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928270"/>
              <a:ext cx="8383006" cy="950254"/>
              <a:chOff x="0" y="0"/>
              <a:chExt cx="1655902" cy="18770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655902" cy="187704"/>
              </a:xfrm>
              <a:custGeom>
                <a:avLst/>
                <a:gdLst/>
                <a:ahLst/>
                <a:cxnLst/>
                <a:rect r="r" b="b" t="t" l="l"/>
                <a:pathLst>
                  <a:path h="187704" w="1655902">
                    <a:moveTo>
                      <a:pt x="93852" y="0"/>
                    </a:moveTo>
                    <a:lnTo>
                      <a:pt x="1562050" y="0"/>
                    </a:lnTo>
                    <a:cubicBezTo>
                      <a:pt x="1586941" y="0"/>
                      <a:pt x="1610813" y="9888"/>
                      <a:pt x="1628414" y="27489"/>
                    </a:cubicBezTo>
                    <a:cubicBezTo>
                      <a:pt x="1646014" y="45089"/>
                      <a:pt x="1655902" y="68961"/>
                      <a:pt x="1655902" y="93852"/>
                    </a:cubicBezTo>
                    <a:lnTo>
                      <a:pt x="1655902" y="93852"/>
                    </a:lnTo>
                    <a:cubicBezTo>
                      <a:pt x="1655902" y="145685"/>
                      <a:pt x="1613883" y="187704"/>
                      <a:pt x="1562050" y="187704"/>
                    </a:cubicBezTo>
                    <a:lnTo>
                      <a:pt x="93852" y="187704"/>
                    </a:lnTo>
                    <a:cubicBezTo>
                      <a:pt x="42019" y="187704"/>
                      <a:pt x="0" y="145685"/>
                      <a:pt x="0" y="93852"/>
                    </a:cubicBezTo>
                    <a:lnTo>
                      <a:pt x="0" y="93852"/>
                    </a:lnTo>
                    <a:cubicBezTo>
                      <a:pt x="0" y="42019"/>
                      <a:pt x="42019" y="0"/>
                      <a:pt x="93852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1655902" cy="2543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>
                    <a:solidFill>
                      <a:srgbClr val="718BAB"/>
                    </a:solidFill>
                    <a:latin typeface="Helios Bold"/>
                    <a:ea typeface="Helios Bold"/>
                    <a:cs typeface="Helios Bold"/>
                    <a:sym typeface="Helios Bold"/>
                  </a:rPr>
                  <a:t>7.3263296374327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8383006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RMSE Value: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6844" y="4691769"/>
            <a:ext cx="10804726" cy="4905213"/>
          </a:xfrm>
          <a:custGeom>
            <a:avLst/>
            <a:gdLst/>
            <a:ahLst/>
            <a:cxnLst/>
            <a:rect r="r" b="b" t="t" l="l"/>
            <a:pathLst>
              <a:path h="4905213" w="10804726">
                <a:moveTo>
                  <a:pt x="0" y="0"/>
                </a:moveTo>
                <a:lnTo>
                  <a:pt x="10804727" y="0"/>
                </a:lnTo>
                <a:lnTo>
                  <a:pt x="10804727" y="4905213"/>
                </a:lnTo>
                <a:lnTo>
                  <a:pt x="0" y="4905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53353"/>
            <a:ext cx="120635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Result: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79642">
            <a:off x="1385713" y="797273"/>
            <a:ext cx="8328499" cy="7192795"/>
          </a:xfrm>
          <a:custGeom>
            <a:avLst/>
            <a:gdLst/>
            <a:ahLst/>
            <a:cxnLst/>
            <a:rect r="r" b="b" t="t" l="l"/>
            <a:pathLst>
              <a:path h="7192795" w="8328499">
                <a:moveTo>
                  <a:pt x="0" y="0"/>
                </a:moveTo>
                <a:lnTo>
                  <a:pt x="8328499" y="0"/>
                </a:lnTo>
                <a:lnTo>
                  <a:pt x="8328499" y="7192795"/>
                </a:lnTo>
                <a:lnTo>
                  <a:pt x="0" y="7192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8301">
            <a:off x="939319" y="1136877"/>
            <a:ext cx="7547346" cy="6518162"/>
          </a:xfrm>
          <a:custGeom>
            <a:avLst/>
            <a:gdLst/>
            <a:ahLst/>
            <a:cxnLst/>
            <a:rect r="r" b="b" t="t" l="l"/>
            <a:pathLst>
              <a:path h="6518162" w="7547346">
                <a:moveTo>
                  <a:pt x="0" y="0"/>
                </a:moveTo>
                <a:lnTo>
                  <a:pt x="7547345" y="0"/>
                </a:lnTo>
                <a:lnTo>
                  <a:pt x="7547345" y="6518162"/>
                </a:lnTo>
                <a:lnTo>
                  <a:pt x="0" y="6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83258" y="3630019"/>
            <a:ext cx="4451468" cy="144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Advantages &amp; </a:t>
            </a:r>
            <a:r>
              <a:rPr lang="en-US" b="true" sz="4099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9176" y="2464287"/>
            <a:ext cx="9166764" cy="446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Advantages: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Easy to implement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Good for short-term forecasting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718BAB"/>
                </a:solidFill>
                <a:latin typeface="Helios"/>
                <a:ea typeface="Helios"/>
                <a:cs typeface="Helios"/>
                <a:sym typeface="Helios"/>
              </a:rPr>
              <a:t>Limitations: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Cannot predict sudden market crashes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Uses only historical prices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8823" y="2900144"/>
            <a:ext cx="6358156" cy="63581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08823" y="4497958"/>
            <a:ext cx="4486713" cy="64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Conclusion: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71286" y="1028700"/>
            <a:ext cx="6358156" cy="63581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99958" y="2833469"/>
            <a:ext cx="570081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53969"/>
                </a:solidFill>
                <a:latin typeface="Helios"/>
                <a:ea typeface="Helios"/>
                <a:cs typeface="Helios"/>
                <a:sym typeface="Helios"/>
              </a:rPr>
              <a:t>ARIMA successfully forecasted Apple stock prices using historical data.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45576" y="2900144"/>
            <a:ext cx="6358156" cy="63581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509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445576" y="5588367"/>
            <a:ext cx="635815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The model can help investors understand future market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DAHLd5lRnI0</dc:identifier>
  <dcterms:modified xsi:type="dcterms:W3CDTF">2011-08-01T06:04:30Z</dcterms:modified>
  <cp:revision>1</cp:revision>
  <dc:title>Stock price prediction of Apple Inc. using ARIMA</dc:title>
</cp:coreProperties>
</file>